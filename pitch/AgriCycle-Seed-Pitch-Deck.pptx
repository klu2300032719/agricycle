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9326880" y="-1097280"/>
            <a:ext cx="4572000" cy="4572000"/>
          </a:xfrm>
          <a:prstGeom prst="ellipse">
            <a:avLst/>
          </a:prstGeom>
          <a:solidFill>
            <a:srgbClr val="15803D"/>
          </a:solidFill>
          <a:ln/>
          <a:effectLst>
            <a:outerShdw sx="100000" sy="100000" kx="0" ky="0" algn="bl" rotWithShape="0" blurRad="508000" dist="50800" dir="16200000">
              <a:srgbClr val="16A34A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0" y="4114800"/>
            <a:ext cx="3200400" cy="320040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AgriCycle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7F3D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exchange layer for farm biomass.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crop residue into a tradable commodity — for farmers, industries, and cleaner air.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$1,000,000 seed  ·  18-month runway  ·  India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season, farm waste goes up in smoke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91440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350–500 Mt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Agricultural residue generated in India every year — much of it burned or dumped.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155448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54480"/>
            <a:ext cx="91440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1874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Broken market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83680" y="2468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buyers; mills can't source quality feedstock reliably from fragmented farms.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49040"/>
            <a:ext cx="91440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brokers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2296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deals, no moisture grades, no price discovery, no logistics transparency.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486400" cy="1965960"/>
          </a:xfrm>
          <a:prstGeom prst="roundRect">
            <a:avLst>
              <a:gd name="adj" fmla="val 5581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49040"/>
            <a:ext cx="91440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4069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 &amp; climate cost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46634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Stubble burning drives smog crises and wastes energy that industry is mandated to use.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AgriCycle: the farm biomass exchange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marketplace where farmers list residue, AI guides fair prices, industries buy graded feedstock, and logistics + escrow close the deal.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945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E8F8EE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85800" y="3794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volume &amp; grade waste in minutes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88920" y="21945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971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971800" y="3794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market signals suggest fair bands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74920" y="21945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E8F8EE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7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57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57800" y="3794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mills &amp; farms by type &amp; distance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1945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543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543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43800" y="3794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→ accept → escrow → transport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46920" y="2194560"/>
            <a:ext cx="2148840" cy="3291840"/>
          </a:xfrm>
          <a:prstGeom prst="roundRect">
            <a:avLst>
              <a:gd name="adj" fmla="val 4255"/>
            </a:avLst>
          </a:prstGeom>
          <a:solidFill>
            <a:srgbClr val="E8F8EE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29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829800" y="3108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829800" y="379476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payments, CO₂ avoided, analytics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Built. Demoable. Extensible.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4592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marketplace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3444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Filterable listings by waste type, grade, location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64592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1536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prediction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1874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LLM + regression fallback for ₹/kg bands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24688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274320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123444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&amp; grade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estimate + A/B/C quality scoring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4688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274320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26334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pipeline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040880" y="2971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→ accept/reject → demo escrow → complete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84048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1234440" y="3730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booking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23444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choice, distance, cost, shipment record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56616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92240" y="384048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37307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matching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040880" y="4069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Geo-aware scoring for industrial demand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" y="46634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" y="493776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1234440" y="4828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23444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 / buyer / transporter / admin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9360" y="46634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4937760"/>
            <a:ext cx="365760" cy="36576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/>
          <p:nvPr/>
        </p:nvSpPr>
        <p:spPr>
          <a:xfrm>
            <a:off x="7040880" y="48280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7040880" y="5166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Earnings, escrow, payments, mix charts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massive physical commodity with digital plumbing missing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$2.5–3.5B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biomass market (2024 est.)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6F9F7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350–500 Mt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56616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residue generated yearly in India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6F9F7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$1B+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4652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GMV if 50 Mt trades @ ~₹2k/t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1463040"/>
            <a:ext cx="2743200" cy="2194560"/>
          </a:xfrm>
          <a:prstGeom prst="roundRect">
            <a:avLst>
              <a:gd name="adj" fmla="val 4167"/>
            </a:avLst>
          </a:prstGeom>
          <a:solidFill>
            <a:srgbClr val="F6F9F7"/>
          </a:solidFill>
          <a:ln/>
        </p:spPr>
      </p:sp>
      <p:sp>
        <p:nvSpPr>
          <p:cNvPr id="16" name="Text 14"/>
          <p:cNvSpPr/>
          <p:nvPr/>
        </p:nvSpPr>
        <p:spPr>
          <a:xfrm>
            <a:off x="9281160" y="182880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932688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 take rate on GMV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" y="4023360"/>
            <a:ext cx="11155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 not need all of India. Owning dense corridors (paddy, sugar, coconut, manure) at high share + logistics/finance layers compounds to a category-defining company.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4937760"/>
            <a:ext cx="11155680" cy="1097280"/>
          </a:xfrm>
          <a:prstGeom prst="roundRect">
            <a:avLst>
              <a:gd name="adj" fmla="val 6667"/>
            </a:avLst>
          </a:prstGeom>
          <a:solidFill>
            <a:srgbClr val="E8F8EE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TAM: global agri-biomass &amp; circular feedstock  ·  SAM: India solid biomass trade &amp; logistics  ·  SOM: 2–3 state corridors in 36 months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Policy, climate, and industry demand converge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67335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099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Anti-burning pressure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89280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NCR smog politics force alternatives to open burning of paddy straw.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251460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277063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0720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65176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Bioenergy mandates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2990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SATAT, co-firing, and renewable targets create industrial offtake for residue.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361188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8679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9044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374904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procurement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0873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Corporates need auditable supply chains and CO₂ diversion metrics.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4709160"/>
            <a:ext cx="11155680" cy="960120"/>
          </a:xfrm>
          <a:prstGeom prst="roundRect">
            <a:avLst>
              <a:gd name="adj" fmla="val 7619"/>
            </a:avLst>
          </a:prstGeom>
          <a:solidFill>
            <a:srgbClr val="F6F9F7"/>
          </a:solidFill>
          <a:ln/>
        </p:spPr>
      </p:sp>
      <p:sp>
        <p:nvSpPr>
          <p:cNvPr id="22" name="Shape 20"/>
          <p:cNvSpPr/>
          <p:nvPr/>
        </p:nvSpPr>
        <p:spPr>
          <a:xfrm>
            <a:off x="685800" y="496519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0017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371600" y="4846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rails ready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51846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cheap smartphones, and WhatsApp ops make rural marketplaces viable.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layers on one GMV flywheel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Marketplace fee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2–5% of GMV on closed deals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 subscriptions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procurement seats for mills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83880" y="1417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1–2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0" y="2011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Logistics margin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12480" y="2560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booking &amp; collection markup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3703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Financing spread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/ invoice discounting (partnered)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343400" y="3703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Carbon &amp; ESG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57200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certificates &amp; reporting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183880" y="3703320"/>
            <a:ext cx="3657600" cy="2057400"/>
          </a:xfrm>
          <a:prstGeom prst="roundRect">
            <a:avLst>
              <a:gd name="adj" fmla="val 4444"/>
            </a:avLst>
          </a:prstGeom>
          <a:solidFill>
            <a:srgbClr val="F6F9F7"/>
          </a:solidFill>
          <a:ln w="12700">
            <a:solidFill>
              <a:srgbClr val="E8EC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3+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12480" y="4297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/ SaaS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index &amp; procurement tools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Density first. WhatsApp-native. One offtake at a time.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E8F8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— Beachhead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crop corridors (e.g. TN / South India sugar + rice). 5–15 industrial buyers with weekly offtake. Field agents + WhatsApp onboarding.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88036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6F9F7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108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— Liquidity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GMV, baling partners, transport SLAs, escrow. Target 500+ active sellers and measurable residue diverted.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434340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F6F9F7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72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 — Expand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77240" y="4983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Replicate playbook to North residue belts. Add financing partner. Launch buyer procurement SaaS.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AgriCycle wins the residue niche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1155680" cy="5943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classifieds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0684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965960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Moisture &amp; grade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06840" y="21031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" y="2606040"/>
            <a:ext cx="11155680" cy="59436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offtake focus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006840" y="2743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246120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for bulk waste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+ call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1792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068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" y="3886200"/>
            <a:ext cx="11155680" cy="59436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price guidance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2900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006840" y="4023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02920" y="4526280"/>
            <a:ext cx="1115568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Escrow / tracking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2900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06840" y="4663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11155680" cy="594360"/>
          </a:xfrm>
          <a:prstGeom prst="rect">
            <a:avLst/>
          </a:prstGeom>
          <a:solidFill>
            <a:srgbClr val="F6F9F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Carbon narrative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42900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1792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006840" y="5303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PRODUCT STATUS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product — ready for pilot deployment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E8F8E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exists today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Full-stack Next.js marketplace live in repo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Neon Postgres + Better Auth + Groq AI integrated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Offer → escrow (demo) → settlement workflow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Admin console, roles, password reset, legal pages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 source on GitHub: klu2300032719/AgriCycle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5486400" cy="4389120"/>
          </a:xfrm>
          <a:prstGeom prst="roundRect">
            <a:avLst>
              <a:gd name="adj" fmla="val 2500"/>
            </a:avLst>
          </a:prstGeom>
          <a:solidFill>
            <a:srgbClr val="F6F9F7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tell investors honestly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Honest stage: pre-revenue software MVP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28803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Seed data + demo flows for investor walkthrough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3474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Next 90 days: 1 pilot district + LOIs from mills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40690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Target: first paid offtake cycles within 6 months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92240" y="4663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 fake farmer counts — traction will be real GMV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demo to density to default channel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6F9F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0–6 mo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Pilot pilot cluster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Field ops hire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First LOIs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WhatsApp layer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4340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6–12 mo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₹1–3 Cr GMV goal*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UPI/escrow live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772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Logistics partners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FC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Repeat buyers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83880" y="146304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6F9F7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 mo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458200" y="25603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2nd state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58200" y="32004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Financing pilot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38404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Carbon pilots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458200" y="448056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Series A ready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58521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*Internal planning targets — not guarantees of performance.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$1,000,000 seed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18-month runway to prove density, GMV, and unit economics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6F9F7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9659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03911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03120" y="1920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03120" y="22402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mobile/PWA, KYC, ops tools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6F9F7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9718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4495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0312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 &amp; field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03120" y="32461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ops, buyer sales, farmer onboarding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79476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6F9F7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397764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0507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03120" y="3931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&amp; working capital buffer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103120" y="4251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collection pilots, float for deals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4800600"/>
            <a:ext cx="11155680" cy="868680"/>
          </a:xfrm>
          <a:prstGeom prst="roundRect">
            <a:avLst>
              <a:gd name="adj" fmla="val 8421"/>
            </a:avLst>
          </a:prstGeom>
          <a:solidFill>
            <a:srgbClr val="F6F9F7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9834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505663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10312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G&amp;A / legal / contingency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103120" y="5257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Entity, compliance, runway cushion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 building at the intersection of agri + climate + software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1155680" cy="2926080"/>
          </a:xfrm>
          <a:prstGeom prst="roundRect">
            <a:avLst>
              <a:gd name="adj" fmla="val 3750"/>
            </a:avLst>
          </a:prstGeom>
          <a:solidFill>
            <a:srgbClr val="F6F9F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 founder bios here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live raise: add 2–3 founders/advisors with domain proof — agri operations, B2B sales to mills, full-stack product, and climate policy. Investors fund teams that can execute density in the field, not only ship UI.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" y="4663440"/>
            <a:ext cx="11155680" cy="1280160"/>
          </a:xfrm>
          <a:prstGeom prst="roundRect">
            <a:avLst>
              <a:gd name="adj" fmla="val 7143"/>
            </a:avLst>
          </a:prstGeom>
          <a:solidFill>
            <a:srgbClr val="E8F8E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plan with seed: Head of Field Ops · Full-stack engineer · B2B offtake lead · Part-time finance/legal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 ·  Confidential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5379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14532D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0" y="-914400"/>
            <a:ext cx="3657600" cy="365760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farm waste a market.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1D5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AgriCycle is raising $1M seed to prove local density, close real offtake, and become the default exchange for agricultural biomass.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github.com/klu2300032719/AgriCycle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754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[your email]  ·  Demo: npm run dev → localhost:3000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AgriCycle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AgriCycle — Seed Round $1M</dc:title>
  <dc:subject>Investor pitch deck</dc:subject>
  <dc:creator>AgriCycle</dc:creator>
  <cp:lastModifiedBy>AgriCycle</cp:lastModifiedBy>
  <cp:revision>1</cp:revision>
  <dcterms:created xsi:type="dcterms:W3CDTF">2026-07-15T09:54:43Z</dcterms:created>
  <dcterms:modified xsi:type="dcterms:W3CDTF">2026-07-15T09:54:43Z</dcterms:modified>
</cp:coreProperties>
</file>